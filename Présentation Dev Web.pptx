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5" r:id="rId4"/>
    <p:sldId id="261" r:id="rId5"/>
    <p:sldId id="258" r:id="rId6"/>
    <p:sldId id="266" r:id="rId7"/>
    <p:sldId id="264" r:id="rId8"/>
    <p:sldId id="260"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2" d="100"/>
          <a:sy n="92" d="100"/>
        </p:scale>
        <p:origin x="90"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EF043C9-239D-43BB-BF2D-4450C711F41C}" type="datetimeFigureOut">
              <a:rPr lang="fr-FR" smtClean="0"/>
              <a:t>15/01/2026</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284993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EF043C9-239D-43BB-BF2D-4450C711F41C}" type="datetimeFigureOut">
              <a:rPr lang="fr-FR" smtClean="0"/>
              <a:t>15/01/2026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514031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EF043C9-239D-43BB-BF2D-4450C711F41C}" type="datetimeFigureOut">
              <a:rPr lang="fr-FR" smtClean="0"/>
              <a:t>15/01/2026</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4163610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EF043C9-239D-43BB-BF2D-4450C711F41C}" type="datetimeFigureOut">
              <a:rPr lang="fr-FR" smtClean="0"/>
              <a:t>15/01/2026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357619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EF043C9-239D-43BB-BF2D-4450C711F41C}" type="datetimeFigureOut">
              <a:rPr lang="fr-FR" smtClean="0"/>
              <a:t>15/01/2026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54620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EF043C9-239D-43BB-BF2D-4450C711F41C}" type="datetimeFigureOut">
              <a:rPr lang="fr-FR" smtClean="0"/>
              <a:t>15/01/2026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1719253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043C9-239D-43BB-BF2D-4450C711F41C}" type="datetimeFigureOut">
              <a:rPr lang="fr-FR" smtClean="0"/>
              <a:t>15/01/2026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1024656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EF043C9-239D-43BB-BF2D-4450C711F41C}" type="datetimeFigureOut">
              <a:rPr lang="fr-FR" smtClean="0"/>
              <a:t>15/01/2026</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90321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EF043C9-239D-43BB-BF2D-4450C711F41C}" type="datetimeFigureOut">
              <a:rPr lang="fr-FR" smtClean="0"/>
              <a:t>15/01/2026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77869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EF043C9-239D-43BB-BF2D-4450C711F41C}" type="datetimeFigureOut">
              <a:rPr lang="fr-FR" smtClean="0"/>
              <a:t>15/01/2026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FF1E194-3973-4B65-AD5C-1E9A2C976EB4}" type="slidenum">
              <a:rPr lang="fr-FR" smtClean="0"/>
              <a:t>‹#›</a:t>
            </a:fld>
            <a:endParaRPr lang="fr-FR"/>
          </a:p>
        </p:txBody>
      </p:sp>
    </p:spTree>
    <p:extLst>
      <p:ext uri="{BB962C8B-B14F-4D97-AF65-F5344CB8AC3E}">
        <p14:creationId xmlns:p14="http://schemas.microsoft.com/office/powerpoint/2010/main" val="2339559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EF043C9-239D-43BB-BF2D-4450C711F41C}" type="datetimeFigureOut">
              <a:rPr lang="fr-FR" smtClean="0"/>
              <a:t>15/01/2026</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FF1E194-3973-4B65-AD5C-1E9A2C976EB4}" type="slidenum">
              <a:rPr lang="fr-FR" smtClean="0"/>
              <a:t>‹#›</a:t>
            </a:fld>
            <a:endParaRPr lang="fr-FR"/>
          </a:p>
        </p:txBody>
      </p:sp>
    </p:spTree>
    <p:extLst>
      <p:ext uri="{BB962C8B-B14F-4D97-AF65-F5344CB8AC3E}">
        <p14:creationId xmlns:p14="http://schemas.microsoft.com/office/powerpoint/2010/main" val="413801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EF043C9-239D-43BB-BF2D-4450C711F41C}" type="datetimeFigureOut">
              <a:rPr lang="fr-FR" smtClean="0"/>
              <a:t>15/01/2026</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FF1E194-3973-4B65-AD5C-1E9A2C976EB4}" type="slidenum">
              <a:rPr lang="fr-FR" smtClean="0"/>
              <a:t>‹#›</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686774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66F2D3-B78E-2700-436D-87B5C870CB26}"/>
              </a:ext>
            </a:extLst>
          </p:cNvPr>
          <p:cNvSpPr>
            <a:spLocks noGrp="1"/>
          </p:cNvSpPr>
          <p:nvPr>
            <p:ph type="ctrTitle"/>
          </p:nvPr>
        </p:nvSpPr>
        <p:spPr>
          <a:xfrm>
            <a:off x="341497" y="1808750"/>
            <a:ext cx="10993549" cy="1251289"/>
          </a:xfrm>
        </p:spPr>
        <p:txBody>
          <a:bodyPr>
            <a:normAutofit/>
          </a:bodyPr>
          <a:lstStyle/>
          <a:p>
            <a:pPr algn="ctr"/>
            <a:r>
              <a:rPr lang="fr-FR" cap="none" dirty="0">
                <a:solidFill>
                  <a:schemeClr val="accent1">
                    <a:lumMod val="75000"/>
                  </a:schemeClr>
                </a:solidFill>
              </a:rPr>
              <a:t>Projet JavaScript : </a:t>
            </a:r>
            <a:r>
              <a:rPr lang="fr-FR" cap="none" dirty="0" err="1">
                <a:solidFill>
                  <a:schemeClr val="accent1">
                    <a:lumMod val="75000"/>
                  </a:schemeClr>
                </a:solidFill>
              </a:rPr>
              <a:t>Bibliotheca</a:t>
            </a:r>
            <a:endParaRPr lang="fr-FR" cap="none" dirty="0">
              <a:solidFill>
                <a:schemeClr val="accent1">
                  <a:lumMod val="75000"/>
                </a:schemeClr>
              </a:solidFill>
            </a:endParaRPr>
          </a:p>
        </p:txBody>
      </p:sp>
      <p:sp>
        <p:nvSpPr>
          <p:cNvPr id="3" name="Sous-titre 2">
            <a:extLst>
              <a:ext uri="{FF2B5EF4-FFF2-40B4-BE49-F238E27FC236}">
                <a16:creationId xmlns:a16="http://schemas.microsoft.com/office/drawing/2014/main" id="{E6F4A7E8-419B-4E6E-E484-5351B1B714FE}"/>
              </a:ext>
            </a:extLst>
          </p:cNvPr>
          <p:cNvSpPr>
            <a:spLocks noGrp="1"/>
          </p:cNvSpPr>
          <p:nvPr>
            <p:ph type="subTitle" idx="1"/>
          </p:nvPr>
        </p:nvSpPr>
        <p:spPr>
          <a:xfrm>
            <a:off x="656948" y="4150988"/>
            <a:ext cx="4944862" cy="1803747"/>
          </a:xfrm>
        </p:spPr>
        <p:txBody>
          <a:bodyPr>
            <a:normAutofit/>
          </a:bodyPr>
          <a:lstStyle/>
          <a:p>
            <a:pPr algn="ctr"/>
            <a:r>
              <a:rPr lang="fr-FR" cap="none" dirty="0">
                <a:solidFill>
                  <a:schemeClr val="bg1"/>
                </a:solidFill>
              </a:rPr>
              <a:t>Réalisé par:</a:t>
            </a:r>
          </a:p>
          <a:p>
            <a:pPr algn="ctr"/>
            <a:r>
              <a:rPr lang="fr-FR" cap="none" dirty="0">
                <a:solidFill>
                  <a:schemeClr val="bg1"/>
                </a:solidFill>
              </a:rPr>
              <a:t>LAALJI Omar</a:t>
            </a:r>
          </a:p>
          <a:p>
            <a:pPr algn="ctr"/>
            <a:r>
              <a:rPr lang="fr-FR" cap="none" dirty="0">
                <a:solidFill>
                  <a:schemeClr val="bg1"/>
                </a:solidFill>
              </a:rPr>
              <a:t>SAKNI Yassir</a:t>
            </a:r>
          </a:p>
          <a:p>
            <a:pPr algn="ctr"/>
            <a:endParaRPr lang="fr-FR" cap="none" dirty="0">
              <a:solidFill>
                <a:schemeClr val="bg1"/>
              </a:solidFill>
            </a:endParaRPr>
          </a:p>
        </p:txBody>
      </p:sp>
      <p:pic>
        <p:nvPicPr>
          <p:cNvPr id="1026" name="Picture 2" descr="École Marocaine des Sciences de l'Ingénieur – EMSI">
            <a:extLst>
              <a:ext uri="{FF2B5EF4-FFF2-40B4-BE49-F238E27FC236}">
                <a16:creationId xmlns:a16="http://schemas.microsoft.com/office/drawing/2014/main" id="{EB1087B7-C97A-3CCF-D202-E35942949C4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595456" y="717801"/>
            <a:ext cx="4490621" cy="982323"/>
          </a:xfrm>
          <a:prstGeom prst="rect">
            <a:avLst/>
          </a:prstGeom>
          <a:noFill/>
          <a:extLst>
            <a:ext uri="{909E8E84-426E-40DD-AFC4-6F175D3DCCD1}">
              <a14:hiddenFill xmlns:a14="http://schemas.microsoft.com/office/drawing/2010/main">
                <a:solidFill>
                  <a:srgbClr val="FFFFFF"/>
                </a:solidFill>
              </a14:hiddenFill>
            </a:ext>
          </a:extLst>
        </p:spPr>
      </p:pic>
      <p:sp>
        <p:nvSpPr>
          <p:cNvPr id="5" name="Sous-titre 2">
            <a:extLst>
              <a:ext uri="{FF2B5EF4-FFF2-40B4-BE49-F238E27FC236}">
                <a16:creationId xmlns:a16="http://schemas.microsoft.com/office/drawing/2014/main" id="{C9296A85-3DDC-E21A-8FAE-B3CEC6574200}"/>
              </a:ext>
            </a:extLst>
          </p:cNvPr>
          <p:cNvSpPr txBox="1">
            <a:spLocks/>
          </p:cNvSpPr>
          <p:nvPr/>
        </p:nvSpPr>
        <p:spPr>
          <a:xfrm>
            <a:off x="7910004" y="4529093"/>
            <a:ext cx="3827754" cy="142564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cap="none" dirty="0">
                <a:solidFill>
                  <a:schemeClr val="bg1"/>
                </a:solidFill>
              </a:rPr>
              <a:t>Encadré par:</a:t>
            </a:r>
          </a:p>
          <a:p>
            <a:pPr algn="ctr"/>
            <a:r>
              <a:rPr lang="fr-FR" cap="none" dirty="0">
                <a:solidFill>
                  <a:schemeClr val="bg1"/>
                </a:solidFill>
              </a:rPr>
              <a:t>Pr.  TLEMCANI Khadija</a:t>
            </a:r>
          </a:p>
          <a:p>
            <a:pPr algn="ctr"/>
            <a:endParaRPr lang="fr-FR" cap="none" dirty="0">
              <a:solidFill>
                <a:schemeClr val="bg1"/>
              </a:solidFill>
            </a:endParaRPr>
          </a:p>
          <a:p>
            <a:pPr algn="ctr"/>
            <a:endParaRPr lang="fr-FR" cap="none" dirty="0">
              <a:solidFill>
                <a:schemeClr val="bg1"/>
              </a:solidFill>
            </a:endParaRPr>
          </a:p>
        </p:txBody>
      </p:sp>
      <p:sp>
        <p:nvSpPr>
          <p:cNvPr id="6" name="Sous-titre 2">
            <a:extLst>
              <a:ext uri="{FF2B5EF4-FFF2-40B4-BE49-F238E27FC236}">
                <a16:creationId xmlns:a16="http://schemas.microsoft.com/office/drawing/2014/main" id="{C51EADFF-CC74-73C2-B6A1-624C5B7A95E5}"/>
              </a:ext>
            </a:extLst>
          </p:cNvPr>
          <p:cNvSpPr txBox="1">
            <a:spLocks/>
          </p:cNvSpPr>
          <p:nvPr/>
        </p:nvSpPr>
        <p:spPr>
          <a:xfrm>
            <a:off x="3973496" y="6512055"/>
            <a:ext cx="4245006" cy="320723"/>
          </a:xfrm>
          <a:prstGeom prst="rect">
            <a:avLst/>
          </a:prstGeom>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fr-FR" i="1" cap="none" dirty="0">
                <a:solidFill>
                  <a:schemeClr val="accent1">
                    <a:lumMod val="75000"/>
                  </a:schemeClr>
                </a:solidFill>
              </a:rPr>
              <a:t>Année Universitaire: 2025/ 2026</a:t>
            </a:r>
          </a:p>
        </p:txBody>
      </p:sp>
    </p:spTree>
    <p:extLst>
      <p:ext uri="{BB962C8B-B14F-4D97-AF65-F5344CB8AC3E}">
        <p14:creationId xmlns:p14="http://schemas.microsoft.com/office/powerpoint/2010/main" val="3378594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637C6-4B30-E05D-4586-2A5C648B5D8D}"/>
              </a:ext>
            </a:extLst>
          </p:cNvPr>
          <p:cNvSpPr>
            <a:spLocks noGrp="1"/>
          </p:cNvSpPr>
          <p:nvPr>
            <p:ph type="title"/>
          </p:nvPr>
        </p:nvSpPr>
        <p:spPr/>
        <p:txBody>
          <a:bodyPr/>
          <a:lstStyle/>
          <a:p>
            <a:r>
              <a:rPr lang="fr-FR" dirty="0" err="1"/>
              <a:t>pLAN</a:t>
            </a:r>
            <a:endParaRPr lang="fr-FR" dirty="0"/>
          </a:p>
        </p:txBody>
      </p:sp>
      <p:sp>
        <p:nvSpPr>
          <p:cNvPr id="3" name="Espace réservé du contenu 2">
            <a:extLst>
              <a:ext uri="{FF2B5EF4-FFF2-40B4-BE49-F238E27FC236}">
                <a16:creationId xmlns:a16="http://schemas.microsoft.com/office/drawing/2014/main" id="{81EE113A-9B7F-AD36-770A-31C268C65C4E}"/>
              </a:ext>
            </a:extLst>
          </p:cNvPr>
          <p:cNvSpPr>
            <a:spLocks noGrp="1"/>
          </p:cNvSpPr>
          <p:nvPr>
            <p:ph idx="1"/>
          </p:nvPr>
        </p:nvSpPr>
        <p:spPr/>
        <p:txBody>
          <a:bodyPr/>
          <a:lstStyle/>
          <a:p>
            <a:r>
              <a:rPr lang="fr-FR" dirty="0"/>
              <a:t>Introduction</a:t>
            </a:r>
          </a:p>
          <a:p>
            <a:r>
              <a:rPr lang="fr-FR" dirty="0"/>
              <a:t>Objectifs</a:t>
            </a:r>
          </a:p>
          <a:p>
            <a:r>
              <a:rPr lang="fr-FR" dirty="0"/>
              <a:t>Démonstration</a:t>
            </a:r>
          </a:p>
          <a:p>
            <a:r>
              <a:rPr lang="fr-FR" dirty="0"/>
              <a:t>Résultats</a:t>
            </a:r>
          </a:p>
          <a:p>
            <a:r>
              <a:rPr lang="fr-FR" dirty="0"/>
              <a:t>Conclusion</a:t>
            </a:r>
          </a:p>
          <a:p>
            <a:endParaRPr lang="fr-FR" dirty="0"/>
          </a:p>
        </p:txBody>
      </p:sp>
    </p:spTree>
    <p:extLst>
      <p:ext uri="{BB962C8B-B14F-4D97-AF65-F5344CB8AC3E}">
        <p14:creationId xmlns:p14="http://schemas.microsoft.com/office/powerpoint/2010/main" val="749517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Introduction</a:t>
            </a:r>
          </a:p>
        </p:txBody>
      </p:sp>
      <p:sp>
        <p:nvSpPr>
          <p:cNvPr id="3" name="Espace réservé du contenu 2">
            <a:extLst>
              <a:ext uri="{FF2B5EF4-FFF2-40B4-BE49-F238E27FC236}">
                <a16:creationId xmlns:a16="http://schemas.microsoft.com/office/drawing/2014/main" id="{374A14BD-C381-9AC5-C632-347936BA8AAF}"/>
              </a:ext>
            </a:extLst>
          </p:cNvPr>
          <p:cNvSpPr>
            <a:spLocks noGrp="1"/>
          </p:cNvSpPr>
          <p:nvPr>
            <p:ph idx="1"/>
          </p:nvPr>
        </p:nvSpPr>
        <p:spPr/>
        <p:txBody>
          <a:bodyPr/>
          <a:lstStyle/>
          <a:p>
            <a:pPr marL="0" indent="0">
              <a:buNone/>
            </a:pPr>
            <a:r>
              <a:rPr lang="fr-FR" b="0" i="0" dirty="0">
                <a:effectLst/>
                <a:latin typeface="gg sans"/>
              </a:rPr>
              <a:t>Dans le cadre de notre projet, nous avons développé un site web de gestion de bibliothèque, destiné à organiser et gérer efficacement les informations liées aux maisons d’édition, auteurs, titres et ouvrages. L’objectif principal de cette application est de faciliter la gestion, la consultation et l’administration des données bibliographiques à travers une plateforme centralisée, simple d’utilisation et structurée. Ce système permet d’automatiser les tâches de gestion tout en assurant une meilleure organisation et un accès rapide aux informations.</a:t>
            </a:r>
            <a:endParaRPr lang="fr-FR" dirty="0"/>
          </a:p>
        </p:txBody>
      </p:sp>
    </p:spTree>
    <p:extLst>
      <p:ext uri="{BB962C8B-B14F-4D97-AF65-F5344CB8AC3E}">
        <p14:creationId xmlns:p14="http://schemas.microsoft.com/office/powerpoint/2010/main" val="27655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B4BAC0-2248-7560-F46E-0C85259EEF3B}"/>
              </a:ext>
            </a:extLst>
          </p:cNvPr>
          <p:cNvSpPr>
            <a:spLocks noGrp="1"/>
          </p:cNvSpPr>
          <p:nvPr>
            <p:ph type="title"/>
          </p:nvPr>
        </p:nvSpPr>
        <p:spPr/>
        <p:txBody>
          <a:bodyPr/>
          <a:lstStyle/>
          <a:p>
            <a:r>
              <a:rPr lang="fr-FR" dirty="0"/>
              <a:t>Objectifs</a:t>
            </a:r>
          </a:p>
        </p:txBody>
      </p:sp>
      <p:sp>
        <p:nvSpPr>
          <p:cNvPr id="3" name="Espace réservé du contenu 2">
            <a:extLst>
              <a:ext uri="{FF2B5EF4-FFF2-40B4-BE49-F238E27FC236}">
                <a16:creationId xmlns:a16="http://schemas.microsoft.com/office/drawing/2014/main" id="{B716BC77-5349-F602-E5AD-63F513C1A9E9}"/>
              </a:ext>
            </a:extLst>
          </p:cNvPr>
          <p:cNvSpPr>
            <a:spLocks noGrp="1"/>
          </p:cNvSpPr>
          <p:nvPr>
            <p:ph idx="1"/>
          </p:nvPr>
        </p:nvSpPr>
        <p:spPr/>
        <p:txBody>
          <a:bodyPr/>
          <a:lstStyle/>
          <a:p>
            <a:r>
              <a:rPr lang="fr-FR" b="0" i="0" dirty="0">
                <a:effectLst/>
                <a:latin typeface="gg sans"/>
              </a:rPr>
              <a:t>Concevoir un système de gestion de bibliothèque permettant d’organiser, gérer et consulter efficacement les données liées aux ouvrages.</a:t>
            </a:r>
            <a:br>
              <a:rPr lang="fr-FR" dirty="0"/>
            </a:br>
            <a:endParaRPr lang="fr-FR" dirty="0"/>
          </a:p>
          <a:p>
            <a:r>
              <a:rPr lang="fr-FR" b="0" i="0" dirty="0">
                <a:effectLst/>
                <a:latin typeface="gg sans"/>
              </a:rPr>
              <a:t>Faciliter la recherche et la consultation des ouvrages</a:t>
            </a:r>
            <a:br>
              <a:rPr lang="fr-FR" dirty="0"/>
            </a:br>
            <a:endParaRPr lang="fr-FR" dirty="0"/>
          </a:p>
          <a:p>
            <a:r>
              <a:rPr lang="fr-FR" b="0" i="0" dirty="0">
                <a:effectLst/>
                <a:latin typeface="gg sans"/>
              </a:rPr>
              <a:t>Gérer les titres et ouvrages</a:t>
            </a:r>
          </a:p>
          <a:p>
            <a:r>
              <a:rPr lang="en-US" b="0" i="0" dirty="0" err="1">
                <a:effectLst/>
                <a:latin typeface="gg sans"/>
              </a:rPr>
              <a:t>Gérer</a:t>
            </a:r>
            <a:r>
              <a:rPr lang="en-US" b="0" i="0" dirty="0">
                <a:effectLst/>
                <a:latin typeface="gg sans"/>
              </a:rPr>
              <a:t> les auteurs</a:t>
            </a:r>
            <a:endParaRPr lang="en-US" dirty="0"/>
          </a:p>
        </p:txBody>
      </p:sp>
    </p:spTree>
    <p:extLst>
      <p:ext uri="{BB962C8B-B14F-4D97-AF65-F5344CB8AC3E}">
        <p14:creationId xmlns:p14="http://schemas.microsoft.com/office/powerpoint/2010/main" val="270583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PROBLEMATIQUE</a:t>
            </a:r>
          </a:p>
        </p:txBody>
      </p:sp>
      <p:sp>
        <p:nvSpPr>
          <p:cNvPr id="3" name="Espace réservé du contenu 2">
            <a:extLst>
              <a:ext uri="{FF2B5EF4-FFF2-40B4-BE49-F238E27FC236}">
                <a16:creationId xmlns:a16="http://schemas.microsoft.com/office/drawing/2014/main" id="{374A14BD-C381-9AC5-C632-347936BA8AAF}"/>
              </a:ext>
            </a:extLst>
          </p:cNvPr>
          <p:cNvSpPr>
            <a:spLocks noGrp="1"/>
          </p:cNvSpPr>
          <p:nvPr>
            <p:ph idx="1"/>
          </p:nvPr>
        </p:nvSpPr>
        <p:spPr/>
        <p:txBody>
          <a:bodyPr>
            <a:normAutofit/>
          </a:bodyPr>
          <a:lstStyle/>
          <a:p>
            <a:pPr marL="0" indent="0">
              <a:buNone/>
            </a:pPr>
            <a:r>
              <a:rPr lang="fr-FR" b="0" i="0" dirty="0">
                <a:effectLst/>
                <a:latin typeface="gg sans"/>
              </a:rPr>
              <a:t>La gestion des bibliothèques et des maisons d’édition repose souvent sur des méthodes manuelles ou peu informatisées, ce qui rend l’organisation des informations complexe et peu efficace. La multiplication des ouvrages, auteurs, titres et maisons d’édition entraîne des difficultés de suivi, de recherche et de mise à jour des données. Face à ces contraintes, il devient nécessaire de disposer d’un système informatisé centralisé permettant de gérer efficacement les informations bibliographiques, d’améliorer l’accès aux données et de faciliter le travail administratif.</a:t>
            </a:r>
            <a:endParaRPr lang="fr-FR" dirty="0"/>
          </a:p>
        </p:txBody>
      </p:sp>
    </p:spTree>
    <p:extLst>
      <p:ext uri="{BB962C8B-B14F-4D97-AF65-F5344CB8AC3E}">
        <p14:creationId xmlns:p14="http://schemas.microsoft.com/office/powerpoint/2010/main" val="1719579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75B841-8E56-4DD3-FB78-591687A30C4F}"/>
              </a:ext>
            </a:extLst>
          </p:cNvPr>
          <p:cNvSpPr>
            <a:spLocks noGrp="1"/>
          </p:cNvSpPr>
          <p:nvPr>
            <p:ph type="title"/>
          </p:nvPr>
        </p:nvSpPr>
        <p:spPr/>
        <p:txBody>
          <a:bodyPr/>
          <a:lstStyle/>
          <a:p>
            <a:r>
              <a:rPr lang="fr-FR" dirty="0"/>
              <a:t>solutions</a:t>
            </a:r>
          </a:p>
        </p:txBody>
      </p:sp>
      <p:sp>
        <p:nvSpPr>
          <p:cNvPr id="4" name="Rectangle 1">
            <a:extLst>
              <a:ext uri="{FF2B5EF4-FFF2-40B4-BE49-F238E27FC236}">
                <a16:creationId xmlns:a16="http://schemas.microsoft.com/office/drawing/2014/main" id="{2ED1A98D-D01A-1FB5-E86D-D1E2256C37F4}"/>
              </a:ext>
            </a:extLst>
          </p:cNvPr>
          <p:cNvSpPr>
            <a:spLocks noGrp="1" noChangeArrowheads="1"/>
          </p:cNvSpPr>
          <p:nvPr>
            <p:ph idx="1"/>
          </p:nvPr>
        </p:nvSpPr>
        <p:spPr bwMode="auto">
          <a:xfrm>
            <a:off x="581192" y="3003985"/>
            <a:ext cx="101422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b="0" i="0" dirty="0">
                <a:effectLst/>
                <a:latin typeface="gg sans"/>
              </a:rPr>
              <a:t>Pour répondre aux problématiques identifiées, nous proposons la mise en place d’un système de gestion de bibliothèque / maison d’édition basé sur une application web centralisée. Cette solution permet : la gestion informatisée des maisons d’édition, auteurs et ouvrages ; la centralisation des données dans une base de données unique ; une consultation rapide et efficace des informations bibliographiques ; une mise à jour simple et sécurisée des données via une interface d’administration. Le système vise ainsi à améliorer l’organisation, la fiabilité des informations et la productivité dans la gestion des ressources bibliographiques.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4489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11B3E0-4BCF-8533-8D06-536B736B4FEB}"/>
              </a:ext>
            </a:extLst>
          </p:cNvPr>
          <p:cNvSpPr>
            <a:spLocks noGrp="1"/>
          </p:cNvSpPr>
          <p:nvPr>
            <p:ph type="title"/>
          </p:nvPr>
        </p:nvSpPr>
        <p:spPr/>
        <p:txBody>
          <a:bodyPr/>
          <a:lstStyle/>
          <a:p>
            <a:r>
              <a:rPr lang="fr-FR" dirty="0"/>
              <a:t>démonstrations</a:t>
            </a:r>
          </a:p>
        </p:txBody>
      </p:sp>
      <p:sp>
        <p:nvSpPr>
          <p:cNvPr id="3" name="Espace réservé du contenu 2">
            <a:extLst>
              <a:ext uri="{FF2B5EF4-FFF2-40B4-BE49-F238E27FC236}">
                <a16:creationId xmlns:a16="http://schemas.microsoft.com/office/drawing/2014/main" id="{F152E817-7CF8-C8DB-ED38-B30E2BAA6F56}"/>
              </a:ext>
            </a:extLst>
          </p:cNvPr>
          <p:cNvSpPr>
            <a:spLocks noGrp="1"/>
          </p:cNvSpPr>
          <p:nvPr>
            <p:ph idx="1"/>
          </p:nvPr>
        </p:nvSpPr>
        <p:spPr/>
        <p:txBody>
          <a:bodyPr/>
          <a:lstStyle/>
          <a:p>
            <a:r>
              <a:rPr lang="fr-FR" dirty="0"/>
              <a:t>Démonstrations en présentiel</a:t>
            </a:r>
          </a:p>
        </p:txBody>
      </p:sp>
    </p:spTree>
    <p:extLst>
      <p:ext uri="{BB962C8B-B14F-4D97-AF65-F5344CB8AC3E}">
        <p14:creationId xmlns:p14="http://schemas.microsoft.com/office/powerpoint/2010/main" val="343210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81457E-CBD4-53E7-DAAC-BA4A86E4B0BD}"/>
              </a:ext>
            </a:extLst>
          </p:cNvPr>
          <p:cNvSpPr>
            <a:spLocks noGrp="1"/>
          </p:cNvSpPr>
          <p:nvPr>
            <p:ph type="title"/>
          </p:nvPr>
        </p:nvSpPr>
        <p:spPr/>
        <p:txBody>
          <a:bodyPr/>
          <a:lstStyle/>
          <a:p>
            <a:r>
              <a:rPr lang="fr-FR" dirty="0"/>
              <a:t>Résultat</a:t>
            </a:r>
          </a:p>
        </p:txBody>
      </p:sp>
      <p:sp>
        <p:nvSpPr>
          <p:cNvPr id="3" name="Espace réservé du contenu 2">
            <a:extLst>
              <a:ext uri="{FF2B5EF4-FFF2-40B4-BE49-F238E27FC236}">
                <a16:creationId xmlns:a16="http://schemas.microsoft.com/office/drawing/2014/main" id="{BD634458-93C5-D414-0005-CB1D6045DCB9}"/>
              </a:ext>
            </a:extLst>
          </p:cNvPr>
          <p:cNvSpPr>
            <a:spLocks noGrp="1"/>
          </p:cNvSpPr>
          <p:nvPr>
            <p:ph idx="1"/>
          </p:nvPr>
        </p:nvSpPr>
        <p:spPr/>
        <p:txBody>
          <a:bodyPr/>
          <a:lstStyle/>
          <a:p>
            <a:pPr marL="0" indent="0" algn="just">
              <a:lnSpc>
                <a:spcPct val="107000"/>
              </a:lnSpc>
              <a:spcAft>
                <a:spcPts val="800"/>
              </a:spcAft>
              <a:buNone/>
            </a:pPr>
            <a:r>
              <a:rPr lang="fr-FR"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Résultats en présentiel</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281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9DA05A-76FB-40DD-219D-4A64E68639E9}"/>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92C07787-5E1B-3550-B208-554C5BBA8C7D}"/>
              </a:ext>
            </a:extLst>
          </p:cNvPr>
          <p:cNvSpPr>
            <a:spLocks noGrp="1"/>
          </p:cNvSpPr>
          <p:nvPr>
            <p:ph idx="1"/>
          </p:nvPr>
        </p:nvSpPr>
        <p:spPr/>
        <p:txBody>
          <a:bodyPr/>
          <a:lstStyle/>
          <a:p>
            <a:r>
              <a:rPr lang="fr-FR" b="0" i="0" dirty="0">
                <a:effectLst/>
                <a:latin typeface="gg sans"/>
              </a:rPr>
              <a:t>Le site de gestion de bibliothèque / maison d’édition développé dans ce projet permet de répondre efficacement aux besoins d’organisation et de gestion des informations bibliographiques. Grâce à cette application, la gestion des maisons d’édition, auteurs, titres et ouvrages devient plus simple, plus rapide et plus fiable. Ce projet nous a permis de mettre en pratique nos compétences en développement web, en gestion de bases de données et en conception de systèmes informatisés. </a:t>
            </a:r>
            <a:r>
              <a:rPr lang="fr-FR" b="0" i="0">
                <a:effectLst/>
                <a:latin typeface="gg sans"/>
              </a:rPr>
              <a:t>Il constitue une solution évolutive pouvant être enrichie par de nouvelles fonctionnalités à l’avenir, telles que la gestion des emprunts ou des statistiques avancées.</a:t>
            </a:r>
            <a:endParaRPr lang="fr-FR" dirty="0"/>
          </a:p>
        </p:txBody>
      </p:sp>
    </p:spTree>
    <p:extLst>
      <p:ext uri="{BB962C8B-B14F-4D97-AF65-F5344CB8AC3E}">
        <p14:creationId xmlns:p14="http://schemas.microsoft.com/office/powerpoint/2010/main" val="54438800"/>
      </p:ext>
    </p:extLst>
  </p:cSld>
  <p:clrMapOvr>
    <a:masterClrMapping/>
  </p:clrMapOvr>
</p:sld>
</file>

<file path=ppt/theme/theme1.xml><?xml version="1.0" encoding="utf-8"?>
<a:theme xmlns:a="http://schemas.openxmlformats.org/drawingml/2006/main" name="Dividende">
  <a:themeElements>
    <a:clrScheme name="Dividende">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TM03457464[[fn=Dividende]]</Template>
  <TotalTime>125</TotalTime>
  <Words>463</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gg sans</vt:lpstr>
      <vt:lpstr>Gill Sans MT</vt:lpstr>
      <vt:lpstr>Times New Roman</vt:lpstr>
      <vt:lpstr>Wingdings 2</vt:lpstr>
      <vt:lpstr>Dividende</vt:lpstr>
      <vt:lpstr>Projet JavaScript : Bibliotheca</vt:lpstr>
      <vt:lpstr>pLAN</vt:lpstr>
      <vt:lpstr>Introduction</vt:lpstr>
      <vt:lpstr>Objectifs</vt:lpstr>
      <vt:lpstr>PROBLEMATIQUE</vt:lpstr>
      <vt:lpstr>solutions</vt:lpstr>
      <vt:lpstr>démonstrations</vt:lpstr>
      <vt:lpstr>Résultat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Mini-projet  TP informatique Sujet ….</dc:title>
  <dc:creator>Sara Ait Bennacer</dc:creator>
  <cp:lastModifiedBy>Nayzerox</cp:lastModifiedBy>
  <cp:revision>9</cp:revision>
  <dcterms:created xsi:type="dcterms:W3CDTF">2023-05-21T16:15:33Z</dcterms:created>
  <dcterms:modified xsi:type="dcterms:W3CDTF">2026-01-15T20:50:48Z</dcterms:modified>
</cp:coreProperties>
</file>